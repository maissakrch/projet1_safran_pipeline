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1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Données Industrielles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Safran Data Systems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2514600"/>
            <a:ext cx="4572000" cy="2743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788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validées : C1 · C2 · C3 · C4 · C5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3383280"/>
            <a:ext cx="1645920" cy="411480"/>
          </a:xfrm>
          <a:prstGeom prst="roundRect">
            <a:avLst>
              <a:gd name="adj" fmla="val 11111"/>
            </a:avLst>
          </a:prstGeom>
          <a:solidFill>
            <a:srgbClr val="1A3A4A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3832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Collecte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48840" y="3383280"/>
            <a:ext cx="1645920" cy="411480"/>
          </a:xfrm>
          <a:prstGeom prst="roundRect">
            <a:avLst>
              <a:gd name="adj" fmla="val 11111"/>
            </a:avLst>
          </a:prstGeom>
          <a:solidFill>
            <a:srgbClr val="1A3A4A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48840" y="33832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SQL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931920" y="3383280"/>
            <a:ext cx="1645920" cy="411480"/>
          </a:xfrm>
          <a:prstGeom prst="roundRect">
            <a:avLst>
              <a:gd name="adj" fmla="val 11111"/>
            </a:avLst>
          </a:prstGeom>
          <a:solidFill>
            <a:srgbClr val="1A3A4A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0" y="33832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Nettoyage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15000" y="3383280"/>
            <a:ext cx="1645920" cy="411480"/>
          </a:xfrm>
          <a:prstGeom prst="roundRect">
            <a:avLst>
              <a:gd name="adj" fmla="val 11111"/>
            </a:avLst>
          </a:prstGeom>
          <a:solidFill>
            <a:srgbClr val="1A3A4A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15000" y="33832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 Base de données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98080" y="3383280"/>
            <a:ext cx="1645920" cy="411480"/>
          </a:xfrm>
          <a:prstGeom prst="roundRect">
            <a:avLst>
              <a:gd name="adj" fmla="val 11111"/>
            </a:avLst>
          </a:prstGeom>
          <a:solidFill>
            <a:srgbClr val="1A3A4A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0" y="33832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 API REST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2026  ·  Simplon DevIA  ·  Dataset NASA CMAPSS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Architecture du projet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3840480" cy="2286000"/>
          </a:xfrm>
          <a:prstGeom prst="rect">
            <a:avLst/>
          </a:prstGeom>
          <a:solidFill>
            <a:srgbClr val="F2F3F4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3474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Safran Data Systems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équipements avioniques génèrent des données issues de capteurs (température, vibration, pression). Ces données sont dispersées et non harmonisées.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: NASA CMAPSS Turbofan Engine Degradation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0" y="7772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pipeline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1005840" cy="10058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097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0" y="1536192"/>
            <a:ext cx="91440" cy="12801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0" y="1097280"/>
            <a:ext cx="1005840" cy="1005840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1097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1536192"/>
            <a:ext cx="91440" cy="12801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1097280"/>
            <a:ext cx="1005840" cy="1005840"/>
          </a:xfrm>
          <a:prstGeom prst="rect">
            <a:avLst/>
          </a:prstGeom>
          <a:solidFill>
            <a:srgbClr val="784212"/>
          </a:solidFill>
          <a:ln w="12700">
            <a:solidFill>
              <a:srgbClr val="78421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1097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SQL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863840" y="1536192"/>
            <a:ext cx="91440" cy="12801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55280" y="1097280"/>
            <a:ext cx="1005840" cy="100584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0" y="1097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2286000"/>
            <a:ext cx="4297680" cy="1097280"/>
          </a:xfrm>
          <a:prstGeom prst="rect">
            <a:avLst/>
          </a:prstGeom>
          <a:solidFill>
            <a:srgbClr val="F2F3F4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331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63440" y="265176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3.13  ·  pandas  ·  FastAPI  ·  SQLite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BeautifulSoup4  ·  uvicorn  ·  Git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3566160"/>
            <a:ext cx="8595360" cy="1325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6576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123 886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48640" y="4251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collectées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697480" y="36576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2697480" y="4251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de données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36576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4846320" y="4251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API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95160" y="36576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C1→C5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6995160" y="4251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validées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— Collecte automatisée multi-sources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0" y="109728"/>
            <a:ext cx="1554480" cy="420624"/>
          </a:xfrm>
          <a:prstGeom prst="roundRect">
            <a:avLst>
              <a:gd name="adj" fmla="val 10870"/>
            </a:avLst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0" y="10972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C1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91440" cy="51206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777240"/>
            <a:ext cx="5029200" cy="512064"/>
          </a:xfrm>
          <a:prstGeom prst="rect">
            <a:avLst/>
          </a:prstGeom>
          <a:solidFill>
            <a:srgbClr val="F2F3F4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0467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03327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JSONPlaceholder → simulation API Safran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868680"/>
            <a:ext cx="1188720" cy="329184"/>
          </a:xfrm>
          <a:prstGeom prst="roundRect">
            <a:avLst>
              <a:gd name="adj" fmla="val 13889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86868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lignes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435608"/>
            <a:ext cx="91440" cy="512064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435608"/>
            <a:ext cx="5029200" cy="512064"/>
          </a:xfrm>
          <a:prstGeom prst="rect">
            <a:avLst/>
          </a:prstGeom>
          <a:solidFill>
            <a:srgbClr val="F2F3F4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46304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NASA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16916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CMAPSS FD001/FD002 — capteurs moteur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1527048"/>
            <a:ext cx="1188720" cy="329184"/>
          </a:xfrm>
          <a:prstGeom prst="roundRect">
            <a:avLst>
              <a:gd name="adj" fmla="val 13889"/>
            </a:avLst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152704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61 893 lignes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093976"/>
            <a:ext cx="91440" cy="512064"/>
          </a:xfrm>
          <a:prstGeom prst="rect">
            <a:avLst/>
          </a:prstGeom>
          <a:solidFill>
            <a:srgbClr val="784212"/>
          </a:solidFill>
          <a:ln w="12700">
            <a:solidFill>
              <a:srgbClr val="784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093976"/>
            <a:ext cx="5029200" cy="512064"/>
          </a:xfrm>
          <a:prstGeom prst="rect">
            <a:avLst/>
          </a:prstGeom>
          <a:solidFill>
            <a:srgbClr val="F2F3F4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12140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84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SQLite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235000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source.db — table capteurs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2185416"/>
            <a:ext cx="1188720" cy="329184"/>
          </a:xfrm>
          <a:prstGeom prst="roundRect">
            <a:avLst>
              <a:gd name="adj" fmla="val 13889"/>
            </a:avLst>
          </a:prstGeom>
          <a:solidFill>
            <a:srgbClr val="784212"/>
          </a:solidFill>
          <a:ln w="12700">
            <a:solidFill>
              <a:srgbClr val="7842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2185416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20 631 lignes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752344"/>
            <a:ext cx="91440" cy="512064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2752344"/>
            <a:ext cx="5029200" cy="512064"/>
          </a:xfrm>
          <a:prstGeom prst="rect">
            <a:avLst/>
          </a:prstGeom>
          <a:solidFill>
            <a:srgbClr val="F2F3F4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2779776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" y="300837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Duplication fichiers NASA data/raw/bigdata/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2843784"/>
            <a:ext cx="1188720" cy="329184"/>
          </a:xfrm>
          <a:prstGeom prst="roundRect">
            <a:avLst>
              <a:gd name="adj" fmla="val 13889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2843784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41 262 lignes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3410712"/>
            <a:ext cx="91440" cy="51206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3410712"/>
            <a:ext cx="5029200" cy="512064"/>
          </a:xfrm>
          <a:prstGeom prst="rect">
            <a:avLst/>
          </a:prstGeom>
          <a:solidFill>
            <a:srgbClr val="F2F3F4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438144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 Web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2920" y="366674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CFM56 — moteur Safran/GE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0" y="3502152"/>
            <a:ext cx="1188720" cy="329184"/>
          </a:xfrm>
          <a:prstGeom prst="roundRect">
            <a:avLst>
              <a:gd name="adj" fmla="val 13889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0" y="3502152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lignes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43600" y="777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Exécution collect_data.py</a:t>
            </a:r>
            <a:endParaRPr lang="en-US" sz="1200" dirty="0"/>
          </a:p>
        </p:txBody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051560"/>
            <a:ext cx="2926080" cy="182880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5943600" y="29260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générés data/processed/</a:t>
            </a:r>
            <a:endParaRPr lang="en-US" sz="1200" dirty="0"/>
          </a:p>
        </p:txBody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43600" y="3200400"/>
            <a:ext cx="292608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— Requêtes SQL documentées et optimisées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0" y="109728"/>
            <a:ext cx="1554480" cy="420624"/>
          </a:xfrm>
          <a:prstGeom prst="roundRect">
            <a:avLst>
              <a:gd name="adj" fmla="val 10870"/>
            </a:avLst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0" y="10972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C2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 de collecte — source.db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97280"/>
            <a:ext cx="4114800" cy="20116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3200400"/>
            <a:ext cx="4114800" cy="1737360"/>
          </a:xfrm>
          <a:prstGeom prst="rect">
            <a:avLst/>
          </a:prstGeom>
          <a:solidFill>
            <a:srgbClr val="F2F3F4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291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361188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SELECT * sans filtre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exhaustive — le nettoyage est délégué à C3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 de jointure nécessaire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capteurs est la seule source SQL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754880" y="777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 paramétrée — API (anti-injection SQL)</a:t>
            </a:r>
            <a:endParaRPr lang="en-US" sz="13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1097280"/>
            <a:ext cx="4114800" cy="20116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754880" y="3200400"/>
            <a:ext cx="4114800" cy="1737360"/>
          </a:xfrm>
          <a:prstGeom prst="rect">
            <a:avLst/>
          </a:prstGeom>
          <a:solidFill>
            <a:srgbClr val="F2F3F4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937760" y="3291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937760" y="361188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WHERE unit = 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 lié — protection injection SQL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LIMIT sur /mesures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 pour éviter surcharge mémoire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784212"/>
          </a:solidFill>
          <a:ln w="12700">
            <a:solidFill>
              <a:srgbClr val="7842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— Nettoyage, normalisation &amp; agrégation des données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0" y="109728"/>
            <a:ext cx="1554480" cy="420624"/>
          </a:xfrm>
          <a:prstGeom prst="roundRect">
            <a:avLst>
              <a:gd name="adj" fmla="val 10870"/>
            </a:avLst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0" y="10972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C3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opérations de nettoyage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4114800" cy="594360"/>
          </a:xfrm>
          <a:prstGeom prst="rect">
            <a:avLst/>
          </a:prstGeom>
          <a:solidFill>
            <a:srgbClr val="F2F3F4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143000"/>
            <a:ext cx="73152" cy="5943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7957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colonnes vides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43560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dropna(axis=1, how='all')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856232"/>
            <a:ext cx="4114800" cy="594360"/>
          </a:xfrm>
          <a:prstGeom prst="rect">
            <a:avLst/>
          </a:prstGeom>
          <a:solidFill>
            <a:srgbClr val="F2F3F4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856232"/>
            <a:ext cx="73152" cy="594360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9280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lignes vides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1488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dropna(how='all')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569464"/>
            <a:ext cx="4114800" cy="594360"/>
          </a:xfrm>
          <a:prstGeom prst="rect">
            <a:avLst/>
          </a:prstGeom>
          <a:solidFill>
            <a:srgbClr val="F2F3F4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569464"/>
            <a:ext cx="73152" cy="594360"/>
          </a:xfrm>
          <a:prstGeom prst="rect">
            <a:avLst/>
          </a:prstGeom>
          <a:solidFill>
            <a:srgbClr val="784212"/>
          </a:solidFill>
          <a:ln w="12700">
            <a:solidFill>
              <a:srgbClr val="7842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6060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84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valeurs manquantes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86207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fillna(mean(numeric_only=True))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282696"/>
            <a:ext cx="4114800" cy="594360"/>
          </a:xfrm>
          <a:prstGeom prst="rect">
            <a:avLst/>
          </a:prstGeom>
          <a:solidFill>
            <a:srgbClr val="F2F3F4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282696"/>
            <a:ext cx="73152" cy="59436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31927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Harmonisation des types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57530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astype(str) sur colonnes object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777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clean_dataframe()</a:t>
            </a:r>
            <a:endParaRPr lang="en-US" sz="13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1097280"/>
            <a:ext cx="4114800" cy="22860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4754880" y="3474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aggregate_data.py</a:t>
            </a:r>
            <a:endParaRPr lang="en-US" sz="120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3749040"/>
            <a:ext cx="4114800" cy="1188720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274320" y="4160520"/>
            <a:ext cx="41148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274320" y="41605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123 886 lignes</a:t>
            </a:r>
            <a:endParaRPr lang="en-US" sz="2200" dirty="0"/>
          </a:p>
        </p:txBody>
      </p:sp>
      <p:sp>
        <p:nvSpPr>
          <p:cNvPr id="29" name="Text 25"/>
          <p:cNvSpPr/>
          <p:nvPr/>
        </p:nvSpPr>
        <p:spPr>
          <a:xfrm>
            <a:off x="274320" y="45720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nettoyées, fusionnées → final_clean_data.csv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 — Modélisation &amp; Base de données finale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0" y="109728"/>
            <a:ext cx="1554480" cy="420624"/>
          </a:xfrm>
          <a:prstGeom prst="roundRect">
            <a:avLst>
              <a:gd name="adj" fmla="val 10870"/>
            </a:avLst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0" y="10972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C4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technique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3840480" cy="1371600"/>
          </a:xfrm>
          <a:prstGeom prst="rect">
            <a:avLst/>
          </a:prstGeom>
          <a:solidFill>
            <a:srgbClr val="F2F3F4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43000"/>
            <a:ext cx="3474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: SQLite (final.db)
</a:t>
            </a:r>
            <a:pPr indent="0" marL="0">
              <a:buNone/>
            </a:pPr>
            <a:r>
              <a:rPr lang="en-US" sz="110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justifié par :
</a:t>
            </a:r>
            <a:pPr indent="0" marL="0">
              <a:buNone/>
            </a:pPr>
            <a:r>
              <a:rPr lang="en-US" sz="110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Déploiement local sans serveur
</a:t>
            </a:r>
            <a:pPr indent="0" marL="0">
              <a:buNone/>
            </a:pPr>
            <a:r>
              <a:rPr lang="en-US" sz="110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Volume ~123 000 lignes adapté
</a:t>
            </a:r>
            <a:pPr indent="0" marL="0">
              <a:buNone/>
            </a:pPr>
            <a:r>
              <a:rPr lang="en-US" sz="110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Intégration directe FastAPI
</a:t>
            </a:r>
            <a:pPr indent="0" marL="0">
              <a:buNone/>
            </a:pPr>
            <a:r>
              <a:rPr lang="en-US" sz="110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Modélisation Merise respectée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2606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: mesures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926080"/>
            <a:ext cx="3840480" cy="1920240"/>
          </a:xfrm>
          <a:prstGeom prst="rect">
            <a:avLst/>
          </a:prstGeom>
          <a:solidFill>
            <a:srgbClr val="F2F3F4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971800"/>
            <a:ext cx="3749040" cy="22860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9718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F3D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unit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3227832"/>
            <a:ext cx="374904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22783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F3D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time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483864"/>
            <a:ext cx="3749040" cy="22860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48386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F3D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op_setting_1/2/3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739896"/>
            <a:ext cx="374904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73989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F3D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sensor_1 … sensor_21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995928"/>
            <a:ext cx="3749040" cy="22860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99592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F3D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id_source (FK)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4251960"/>
            <a:ext cx="374904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2519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F3D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id_unite (FK)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4507992"/>
            <a:ext cx="3749040" cy="22860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50799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F3D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source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0" y="7772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final.db</a:t>
            </a:r>
            <a:endParaRPr lang="en-US" sz="13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1097280"/>
            <a:ext cx="4297680" cy="118872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4572000" y="2423160"/>
            <a:ext cx="4297680" cy="2468880"/>
          </a:xfrm>
          <a:prstGeom prst="rect">
            <a:avLst/>
          </a:prstGeom>
          <a:solidFill>
            <a:srgbClr val="F9F0FF"/>
          </a:solidFill>
          <a:ln w="12700">
            <a:solidFill>
              <a:srgbClr val="D2B4D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54880" y="2514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Merise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4754880" y="2880360"/>
            <a:ext cx="3931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 — Modèle Conceptuel de Données
</a:t>
            </a:r>
            <a:pPr indent="0" marL="0">
              <a:buNone/>
            </a:pPr>
            <a:r>
              <a:rPr lang="en-US" sz="110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entités : SOURCE · MESURE · UNITE_MOTEUR · PIPELINE_EXEC
</a:t>
            </a:r>
            <a:pPr indent="0" marL="0">
              <a:buNone/>
            </a:pPr>
            <a:r>
              <a:rPr lang="en-US" sz="1100" b="1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MPD — Modèle Physique de Données
</a:t>
            </a:r>
            <a:pPr indent="0" marL="0">
              <a:buNone/>
            </a:pPr>
            <a:r>
              <a:rPr lang="en-US" sz="110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Traduction SQL : clés primaires, étrangères, types de colonnes, relations 1,N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 — API REST FastAPI avec authentification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0" y="109728"/>
            <a:ext cx="1554480" cy="420624"/>
          </a:xfrm>
          <a:prstGeom prst="roundRect">
            <a:avLst>
              <a:gd name="adj" fmla="val 10870"/>
            </a:avLst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0" y="10972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C5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 — Documentation OpenAPI 3.1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97280"/>
            <a:ext cx="5029200" cy="2743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39319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X-API-Key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" y="4206240"/>
            <a:ext cx="5029200" cy="7772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77840" y="7772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577840" y="1143000"/>
            <a:ext cx="3291840" cy="438912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577840" y="1197864"/>
            <a:ext cx="502920" cy="320040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577840" y="1197864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6126480" y="119786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F3D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/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126480" y="1380744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API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8595360" y="1216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577840" y="1645920"/>
            <a:ext cx="3291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577840" y="1700784"/>
            <a:ext cx="502920" cy="320040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577840" y="1700784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6126480" y="170078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F3D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/mesures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126480" y="1883664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Échantillon (limit)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8595360" y="1719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5577840" y="2148840"/>
            <a:ext cx="3291840" cy="438912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577840" y="2203704"/>
            <a:ext cx="502920" cy="320040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577840" y="2203704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126480" y="220370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F3D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/mesures/{id}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126480" y="2386584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unité moteur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8595360" y="22219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5577840" y="2651760"/>
            <a:ext cx="3291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5577840" y="2706624"/>
            <a:ext cx="502920" cy="320040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577840" y="2706624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6126480" y="270662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F3D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/stats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126480" y="2889504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+ nb unités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8595360" y="27249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400" dirty="0"/>
          </a:p>
        </p:txBody>
      </p:sp>
      <p:sp>
        <p:nvSpPr>
          <p:cNvPr id="35" name="Shape 31"/>
          <p:cNvSpPr/>
          <p:nvPr/>
        </p:nvSpPr>
        <p:spPr>
          <a:xfrm>
            <a:off x="5577840" y="3200400"/>
            <a:ext cx="3291840" cy="1645920"/>
          </a:xfrm>
          <a:prstGeom prst="rect">
            <a:avLst/>
          </a:prstGeom>
          <a:solidFill>
            <a:srgbClr val="FEF9E7"/>
          </a:solidFill>
          <a:ln w="12700">
            <a:solidFill>
              <a:srgbClr val="F9E79F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760720" y="32918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84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implémentée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5760720" y="3611880"/>
            <a:ext cx="2926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APIKeyHeader (X-API-Key)
</a:t>
            </a:r>
            <a:pPr indent="0" marL="0">
              <a:buNone/>
            </a:pPr>
            <a:r>
              <a:rPr lang="en-US" sz="110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Requêtes SQL paramétrées
</a:t>
            </a:r>
            <a:pPr indent="0" marL="0">
              <a:buNone/>
            </a:pPr>
            <a:r>
              <a:rPr lang="en-US" sz="110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Clé API dans .env
</a:t>
            </a:r>
            <a:pPr indent="0" marL="0">
              <a:buNone/>
            </a:pPr>
            <a:r>
              <a:rPr lang="en-US" sz="110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HTTP 401 si clé invalide
</a:t>
            </a:r>
            <a:pPr indent="0" marL="0">
              <a:buNone/>
            </a:pPr>
            <a:r>
              <a:rPr lang="en-US" sz="110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HTTP 404 si unité introuvable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 — Démonstration API : réponses en temps réel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0" y="109728"/>
            <a:ext cx="1554480" cy="420624"/>
          </a:xfrm>
          <a:prstGeom prst="roundRect">
            <a:avLst>
              <a:gd name="adj" fmla="val 10870"/>
            </a:avLst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0" y="10972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C5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/mesures — réponse JSON (code 200)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97280"/>
            <a:ext cx="4114800" cy="3840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754880" y="777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/stats — réponse JSON (code 200)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1097280"/>
            <a:ext cx="41148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industrialisé — Logs &amp; orchestration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Exécution run_pipeline.py — pipeline complet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97280"/>
            <a:ext cx="8595360" cy="2103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33375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pipeline.log — traçabilité horodatée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" y="3657600"/>
            <a:ext cx="8595360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 — Compétences validées C1 à C5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37160" y="777240"/>
            <a:ext cx="1645920" cy="4160520"/>
          </a:xfrm>
          <a:prstGeom prst="rect">
            <a:avLst/>
          </a:prstGeom>
          <a:solidFill>
            <a:srgbClr val="0D1B2A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777240"/>
            <a:ext cx="1645920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7772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" y="13258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automatisée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" y="178308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API REST (JSONPlaceholder)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8600" y="228600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CSV NASA CMAPSS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278892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Base SQL SQLite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" y="329184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Big Data simulé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8600" y="379476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Scraping Wikipedia (CFM56)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" y="4480560"/>
            <a:ext cx="457200" cy="27432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4805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920240" y="777240"/>
            <a:ext cx="1645920" cy="4160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20240" y="777240"/>
            <a:ext cx="1645920" cy="502920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20240" y="7772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965960" y="13258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Requêtes SQL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11680" y="178308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SELECT * FROM capteurs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11680" y="228600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Requêtes paramétrées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11680" y="278892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Protection injection SQL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011680" y="329184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Documentation justifiée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14600" y="4480560"/>
            <a:ext cx="457200" cy="27432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14600" y="44805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703320" y="777240"/>
            <a:ext cx="1645920" cy="4160520"/>
          </a:xfrm>
          <a:prstGeom prst="rect">
            <a:avLst/>
          </a:prstGeom>
          <a:solidFill>
            <a:srgbClr val="0D1B2A"/>
          </a:solidFill>
          <a:ln w="12700">
            <a:solidFill>
              <a:srgbClr val="78421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03320" y="777240"/>
            <a:ext cx="1645920" cy="502920"/>
          </a:xfrm>
          <a:prstGeom prst="rect">
            <a:avLst/>
          </a:prstGeom>
          <a:solidFill>
            <a:srgbClr val="784212"/>
          </a:solidFill>
          <a:ln w="12700">
            <a:solidFill>
              <a:srgbClr val="7842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03320" y="7772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749040" y="13258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&amp; agrégation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794760" y="178308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Suppression colonnes/lignes vides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794760" y="228600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Imputation par moyenne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794760" y="278892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Harmonisation des types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794760" y="329184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Fusion 5 sources → 123 886 lignes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297680" y="4480560"/>
            <a:ext cx="457200" cy="27432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97680" y="44805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0" y="777240"/>
            <a:ext cx="1645920" cy="4160520"/>
          </a:xfrm>
          <a:prstGeom prst="rect">
            <a:avLst/>
          </a:prstGeom>
          <a:solidFill>
            <a:srgbClr val="0D1B2A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0" y="777240"/>
            <a:ext cx="1645920" cy="50292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0" y="7772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532120" y="13258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577840" y="178308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Modélisation Merise MCD/MPD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577840" y="228600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SQLite final.db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77840" y="278892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Script d'import fonctionnel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577840" y="329184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Respect RGPD documenté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080760" y="4480560"/>
            <a:ext cx="457200" cy="27432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80760" y="44805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269480" y="777240"/>
            <a:ext cx="1645920" cy="4160520"/>
          </a:xfrm>
          <a:prstGeom prst="rect">
            <a:avLst/>
          </a:prstGeom>
          <a:solidFill>
            <a:srgbClr val="0D1B2A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269480" y="777240"/>
            <a:ext cx="1645920" cy="5029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69480" y="7772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7315200" y="13258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360920" y="178308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FastAPI + Swagger OpenAPI 3.1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360920" y="228600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Authentification X-API-Key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360920" y="278892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4 endpoints documentés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360920" y="329184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HTTP 401/404 gérés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863840" y="4480560"/>
            <a:ext cx="457200" cy="27432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863840" y="44805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12F3D"/>
          </a:solidFill>
          <a:ln w="12700">
            <a:solidFill>
              <a:srgbClr val="212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du référentiel — Projets 2, 3 et 4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1188720"/>
          </a:xfrm>
          <a:prstGeom prst="rect">
            <a:avLst/>
          </a:prstGeom>
          <a:solidFill>
            <a:srgbClr val="F2F3F4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73152" cy="11887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1280160" cy="411480"/>
          </a:xfrm>
          <a:prstGeom prst="roundRect">
            <a:avLst>
              <a:gd name="adj" fmla="val 11111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920240" y="960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C6 · C7 · C8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20240" y="12161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service IA préexistant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20240" y="1527048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Veille technique, benchmark services IA, paramétrage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1188720"/>
            <a:ext cx="2194560" cy="548640"/>
          </a:xfrm>
          <a:prstGeom prst="rect">
            <a:avLst/>
          </a:prstGeom>
          <a:solidFill>
            <a:srgbClr val="FEF9E7"/>
          </a:solidFill>
          <a:ln w="12700">
            <a:solidFill>
              <a:srgbClr val="F9E79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1887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84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À compléter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240280"/>
            <a:ext cx="8595360" cy="1188720"/>
          </a:xfrm>
          <a:prstGeom prst="rect">
            <a:avLst/>
          </a:prstGeom>
          <a:solidFill>
            <a:srgbClr val="F2F3F4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240280"/>
            <a:ext cx="73152" cy="1188720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331720"/>
            <a:ext cx="1280160" cy="411480"/>
          </a:xfrm>
          <a:prstGeom prst="roundRect">
            <a:avLst>
              <a:gd name="adj" fmla="val 11111"/>
            </a:avLst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331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920240" y="2331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C9 · C10 · C11 · C12 · C13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20240" y="25877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modèle IA (MLOps)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20240" y="2898648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modèle IA, monitoring, tests automatisés, CI/CD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2560320"/>
            <a:ext cx="2194560" cy="548640"/>
          </a:xfrm>
          <a:prstGeom prst="rect">
            <a:avLst/>
          </a:prstGeom>
          <a:solidFill>
            <a:srgbClr val="FEF9E7"/>
          </a:solidFill>
          <a:ln w="12700">
            <a:solidFill>
              <a:srgbClr val="F9E79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25603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84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À compléter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611880"/>
            <a:ext cx="8595360" cy="1188720"/>
          </a:xfrm>
          <a:prstGeom prst="rect">
            <a:avLst/>
          </a:prstGeom>
          <a:solidFill>
            <a:srgbClr val="F2F3F4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611880"/>
            <a:ext cx="73152" cy="118872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703320"/>
            <a:ext cx="1280160" cy="411480"/>
          </a:xfrm>
          <a:prstGeom prst="roundRect">
            <a:avLst>
              <a:gd name="adj" fmla="val 11111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7033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92024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C14 → C21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920240" y="39593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IA complète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920240" y="4270248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Conception, développement, tests, livraison continue, maintenance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0" y="3931920"/>
            <a:ext cx="2194560" cy="548640"/>
          </a:xfrm>
          <a:prstGeom prst="rect">
            <a:avLst/>
          </a:prstGeom>
          <a:solidFill>
            <a:srgbClr val="FEF9E7"/>
          </a:solidFill>
          <a:ln w="12700">
            <a:solidFill>
              <a:srgbClr val="F9E79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39319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84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À compléter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F2F3F4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fichier est conçu pour être complété avec les projets 2, 3 et 4 — même structure de slides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données industrielles — Safran Data Systems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737360"/>
            <a:ext cx="6400800" cy="2743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920240"/>
            <a:ext cx="274320" cy="32004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9202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920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automatisé de bout en bout — collecte → nettoyage → stockage → API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423160"/>
            <a:ext cx="274320" cy="32004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4231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4231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sources hétérogènes collectées (API, CSV, SQL, BigData, Scraping)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274320" cy="32004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9260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29260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123 886 lignes traitées, normalisées et centralisées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429000"/>
            <a:ext cx="274320" cy="32004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4290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34290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sécurisée avec authentification X-API-Key et documentation Swagger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931920"/>
            <a:ext cx="274320" cy="32004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9319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39319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Industrialisation : logs horodatés, gestion d'erreurs, orchestration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C1 · C2 · C3 · C4 · C5 validées ✓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1 — Pipeline Safran — C1 à C5</dc:title>
  <dc:subject>PptxGenJS Presentation</dc:subject>
  <dc:creator>PptxGenJS</dc:creator>
  <cp:lastModifiedBy>PptxGenJS</cp:lastModifiedBy>
  <cp:revision>1</cp:revision>
  <dcterms:created xsi:type="dcterms:W3CDTF">2026-06-03T10:06:36Z</dcterms:created>
  <dcterms:modified xsi:type="dcterms:W3CDTF">2026-06-03T10:06:36Z</dcterms:modified>
</cp:coreProperties>
</file>